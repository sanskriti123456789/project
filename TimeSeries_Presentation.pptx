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 (DEEMED TO BE UNIVERSITY) | DELHI–NCR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&amp; Panel Data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Macroeconomic Analysis: GDP, Inflation &amp; Policy Rate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5 Countries | 2004 – 2023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2834640"/>
            <a:ext cx="41148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017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30175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 Garg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364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3649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24211228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712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371246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BBA FMA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" y="4059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405993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Pundhir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4407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40740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/ IMF (Public)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320040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4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2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Regression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61872"/>
            <a:ext cx="40233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9844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783080" y="12984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USA, China, UK, Germany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66420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70078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83080" y="17007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 – 2023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40233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1031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(Balanced Panel, 5×20)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50545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Var.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83080" y="250545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 (%)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871216"/>
            <a:ext cx="4023360" cy="347472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90779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Vars.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83080" y="29077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(%), Repo Rate (%)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804672"/>
            <a:ext cx="4297680" cy="347472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80467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Results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1261872"/>
            <a:ext cx="4297680" cy="2743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12618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Regression: GDP ~ Inflation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157276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GDP = 2.3034 + 0.4851 × Inflation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3440" y="189280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coeff. = 0.4851 (p = 0.0026)**  |  R² = 8.9%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2212848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1% rise in inflation → +0.49% GDP growth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578608"/>
            <a:ext cx="4297680" cy="2743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7860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Regression: GDP ~ Inflation + Repo Rate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2889504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GDP = 0.68 − 0.016 × Inflation + 0.964 × RepoRate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3200400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 coeff. = 0.964 (p &lt; 0.001)***  |  R² = 36.4%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63440" y="3511296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becomes insignificant once Repo Rate included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382219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nearly quadruples — Repo Rate is the dominant predictor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3364992"/>
            <a:ext cx="402336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3364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Key Findings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7472" y="36576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↔ Repo Rate: r = 0.60 (Strong positive)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7472" y="395935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↔ Inflation: r = 0.30 (Moderate positive)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7472" y="426110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↔ Repo Rate: r = 0.51 (Moderate — expected)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 Garg | 24211228 | CIA 2 – Time Series &amp; Panel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Tests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 Tests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420624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25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~ Inflation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377440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1.499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749040" y="1225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0.2238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20640" y="122529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Inflation does NOT Granger-cause GDP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645920"/>
            <a:ext cx="8595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7007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~ Repo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77440" y="1700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6.907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749040" y="1700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0.0100**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20640" y="170078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 Rate DOES Granger-cause GDP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7472" y="2176272"/>
            <a:ext cx="8458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repo rate changes significantly predict future GDP — consistent with monetary policy transmission theory.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514600"/>
            <a:ext cx="416052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51460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 Test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1605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94436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GDP ~ Inflation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2944368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9.551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944368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0.0026**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328416"/>
            <a:ext cx="4160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3649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GDP ~ Infl. + Repo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97480" y="33649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27.70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11880" y="3364992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3.04e-10***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378561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highly significant — joint effect of Inflation + Repo Rate confirmed.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514600"/>
            <a:ext cx="420624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– Multicollinearity Test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663440" y="2907792"/>
            <a:ext cx="420624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29443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406640" y="29443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1.345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3328416"/>
            <a:ext cx="4206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36592" y="336499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406640" y="33649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1.345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36592" y="378561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well below threshold of 5 — no multicollinearity. Coefficients are stable and reliable.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 Garg | 24211228 | CIA 2 – Time Series &amp; Panel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panel: n = 5 countries × T = 20 years = 100 observations. Three models estimated: Pooled OLS, Fixed Effects (FE), and Random Effects (RE).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192024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430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143000"/>
            <a:ext cx="210312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43000"/>
            <a:ext cx="210312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143000"/>
            <a:ext cx="210312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Effects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508760"/>
            <a:ext cx="192024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453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150876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1545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−0.016 (0.916)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297680" y="150876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545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0.110 (0.501)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0" y="150876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4533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(0.995)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92024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5681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94560" y="192024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1956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0.964***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192024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1956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0.324 (0.077)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0" y="192024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1956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0.925***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331720"/>
            <a:ext cx="192024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3682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194560" y="233172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368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0.3636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97680" y="233172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368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0.0485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2331720"/>
            <a:ext cx="2103120" cy="365760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46520" y="23682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0.3373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743200"/>
            <a:ext cx="19202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27797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/ Chi²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94560" y="274320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40280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27.70***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274320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43400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2.37 (0.099)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2743200"/>
            <a:ext cx="21031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49.37***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3246120"/>
            <a:ext cx="859536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24612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 Test Result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74320" y="3611880"/>
            <a:ext cx="8595360" cy="38404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3630168"/>
            <a:ext cx="8458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80.111, df = 2, p-value &lt; 2.2e-16 (Highly Significant) → Fixed Effects model is statistically preferred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47472" y="4078224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Hausman test strongly rejects null → country effects are correlated with regressors → FE preferred.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47472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 is significant (p &lt; 0.001) in both Pooled OLS and Random Effects — a consistently robust predictor.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47472" y="45902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 shows lower R² (0.049) as it absorbs country-level variation through individual intercepts.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 Garg | 24211228 | CIA 2 – Time Series &amp; Panel Data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&amp; Overall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6052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Forecasting: India GDP (2024–2026)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61288"/>
            <a:ext cx="41605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61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Holt-Winters (α=0.157, β=1.0)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2024: 7.74%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8.74%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7510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9.75%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258568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50.66%  |  RMSE = 4.33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560320"/>
            <a:ext cx="4160520" cy="25603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56032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ARIMA(0,0,0) — Preferred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6207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2024–2026: 7.005% (stable long-run mean)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3136392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= 28.28%  |  RMSE = 3.30  |  AIC = 108.47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56432"/>
            <a:ext cx="4160520" cy="512064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483864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reduces MAPE by 44% vs. Holt-Winters. India's GDP growth is best modelled as a stationary process with long-run mean ≈ 7.0%.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206240" cy="320040"/>
          </a:xfrm>
          <a:prstGeom prst="rect">
            <a:avLst/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161288"/>
            <a:ext cx="4206240" cy="38404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17957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Regression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63640" y="117957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→ GDP: β = 0.485** (modest positive)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591056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60934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Regression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63640" y="1609344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 → GDP: β = 0.964*** — dominant predictor (R²=36%)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020824"/>
            <a:ext cx="4206240" cy="38404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203911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Granger Causality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63640" y="2039112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Rate → GDP (p=0.01**): monetary policy leads output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2450592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246888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Diagnostics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2468880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= 1.345 for both — no multicollinearity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880360"/>
            <a:ext cx="4206240" cy="384048"/>
          </a:xfrm>
          <a:prstGeom prst="rect">
            <a:avLst/>
          </a:prstGeom>
          <a:solidFill>
            <a:srgbClr val="F0F5FB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289864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63640" y="2898648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preferred; Repo Rate robust across all specifications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3310128"/>
            <a:ext cx="4206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36592" y="332841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3328416"/>
            <a:ext cx="25420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best; India GDP ≈ 7.0% long-run growth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767328"/>
            <a:ext cx="4206240" cy="201168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767328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995928"/>
            <a:ext cx="4206240" cy="59436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36592" y="4014216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 policy (repo rate) is the most significant driver of GDP growth across major economies. Its effect holds across all model specifications and is confirmed by Granger causality.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B5E"/>
          </a:solidFill>
          <a:ln w="12700">
            <a:solidFill>
              <a:srgbClr val="0D2B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Sanskriti Garg | 24211228 | CIA 2 – Time Series &amp; Panel Data Analysis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Series &amp; Panel Data Analysis</dc:title>
  <dc:subject>PptxGenJS Presentation</dc:subject>
  <dc:creator>PptxGenJS</dc:creator>
  <cp:lastModifiedBy>PptxGenJS</cp:lastModifiedBy>
  <cp:revision>1</cp:revision>
  <dcterms:created xsi:type="dcterms:W3CDTF">2026-04-21T17:18:16Z</dcterms:created>
  <dcterms:modified xsi:type="dcterms:W3CDTF">2026-04-21T17:18:16Z</dcterms:modified>
</cp:coreProperties>
</file>